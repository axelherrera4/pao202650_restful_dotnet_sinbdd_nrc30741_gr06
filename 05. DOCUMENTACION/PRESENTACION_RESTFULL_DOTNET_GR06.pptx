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6"/>
  </p:notesMasterIdLst>
  <p:sldIdLst>
    <p:sldId id="256" r:id="rId3"/>
    <p:sldId id="330" r:id="rId4"/>
    <p:sldId id="331" r:id="rId5"/>
    <p:sldId id="332" r:id="rId6"/>
    <p:sldId id="258" r:id="rId7"/>
    <p:sldId id="259" r:id="rId8"/>
    <p:sldId id="261" r:id="rId9"/>
    <p:sldId id="278" r:id="rId10"/>
    <p:sldId id="279" r:id="rId11"/>
    <p:sldId id="280" r:id="rId12"/>
    <p:sldId id="284" r:id="rId13"/>
    <p:sldId id="329" r:id="rId14"/>
    <p:sldId id="287" r:id="rId15"/>
    <p:sldId id="333" r:id="rId16"/>
    <p:sldId id="334" r:id="rId17"/>
    <p:sldId id="293" r:id="rId18"/>
    <p:sldId id="311" r:id="rId19"/>
    <p:sldId id="295" r:id="rId20"/>
    <p:sldId id="321" r:id="rId21"/>
    <p:sldId id="296" r:id="rId22"/>
    <p:sldId id="297" r:id="rId23"/>
    <p:sldId id="299" r:id="rId24"/>
    <p:sldId id="335" r:id="rId25"/>
  </p:sldIdLst>
  <p:sldSz cx="12192000" cy="6858000"/>
  <p:notesSz cx="6858000" cy="9144000"/>
  <p:embeddedFontLst>
    <p:embeddedFont>
      <p:font typeface="Gill Sans" panose="020B0604020202020204" charset="0"/>
      <p:regular r:id="rId27"/>
      <p:bold r:id="rId28"/>
    </p:embeddedFont>
    <p:embeddedFont>
      <p:font typeface="Gill Sans MT" panose="020B0502020104020203" pitchFamily="34" charset="0"/>
      <p:regular r:id="rId29"/>
      <p:bold r:id="rId30"/>
      <p:italic r:id="rId31"/>
      <p:boldItalic r:id="rId32"/>
    </p:embeddedFont>
    <p:embeddedFont>
      <p:font typeface="Noto Sans Symbols" panose="020B0604020202020204" charset="0"/>
      <p:regular r:id="rId33"/>
      <p:bold r:id="rId34"/>
    </p:embeddedFont>
    <p:embeddedFont>
      <p:font typeface="Wingdings 2" panose="05020102010507070707" pitchFamily="18" charset="2"/>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font" Target="fonts/font8.fntdata"/><Relationship Id="rId8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82"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6.xml"/><Relationship Id="rId85" Type="http://schemas.openxmlformats.org/officeDocument/2006/relationships/theme" Target="theme/theme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524d66b2ad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524d66b2ad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a:extLst>
            <a:ext uri="{FF2B5EF4-FFF2-40B4-BE49-F238E27FC236}">
              <a16:creationId xmlns:a16="http://schemas.microsoft.com/office/drawing/2014/main" id="{BC9B75D4-238F-BC39-8252-88DD1C4720B5}"/>
            </a:ext>
          </a:extLst>
        </p:cNvPr>
        <p:cNvGrpSpPr/>
        <p:nvPr/>
      </p:nvGrpSpPr>
      <p:grpSpPr>
        <a:xfrm>
          <a:off x="0" y="0"/>
          <a:ext cx="0" cy="0"/>
          <a:chOff x="0" y="0"/>
          <a:chExt cx="0" cy="0"/>
        </a:xfrm>
      </p:grpSpPr>
      <p:sp>
        <p:nvSpPr>
          <p:cNvPr id="433" name="Google Shape;433;g1dc40ab34ca_0_211:notes">
            <a:extLst>
              <a:ext uri="{FF2B5EF4-FFF2-40B4-BE49-F238E27FC236}">
                <a16:creationId xmlns:a16="http://schemas.microsoft.com/office/drawing/2014/main" id="{38686254-093D-6C38-02AF-85BC3B4A1F7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a:extLst>
              <a:ext uri="{FF2B5EF4-FFF2-40B4-BE49-F238E27FC236}">
                <a16:creationId xmlns:a16="http://schemas.microsoft.com/office/drawing/2014/main" id="{3BB8D5B5-68CD-A154-1FF6-8F0C219687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8476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a:extLst>
            <a:ext uri="{FF2B5EF4-FFF2-40B4-BE49-F238E27FC236}">
              <a16:creationId xmlns:a16="http://schemas.microsoft.com/office/drawing/2014/main" id="{33D629E5-BCC0-DFD4-85B2-565DE88E99ED}"/>
            </a:ext>
          </a:extLst>
        </p:cNvPr>
        <p:cNvGrpSpPr/>
        <p:nvPr/>
      </p:nvGrpSpPr>
      <p:grpSpPr>
        <a:xfrm>
          <a:off x="0" y="0"/>
          <a:ext cx="0" cy="0"/>
          <a:chOff x="0" y="0"/>
          <a:chExt cx="0" cy="0"/>
        </a:xfrm>
      </p:grpSpPr>
      <p:sp>
        <p:nvSpPr>
          <p:cNvPr id="433" name="Google Shape;433;g1dc40ab34ca_0_211:notes">
            <a:extLst>
              <a:ext uri="{FF2B5EF4-FFF2-40B4-BE49-F238E27FC236}">
                <a16:creationId xmlns:a16="http://schemas.microsoft.com/office/drawing/2014/main" id="{B4BD0E7E-5D83-DD8B-B561-243231B0D4F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a:extLst>
              <a:ext uri="{FF2B5EF4-FFF2-40B4-BE49-F238E27FC236}">
                <a16:creationId xmlns:a16="http://schemas.microsoft.com/office/drawing/2014/main" id="{9E296031-E41F-3AF1-E784-D3E3D7B44C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1808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0579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a:extLst>
            <a:ext uri="{FF2B5EF4-FFF2-40B4-BE49-F238E27FC236}">
              <a16:creationId xmlns:a16="http://schemas.microsoft.com/office/drawing/2014/main" id="{49C8B27F-ECA5-CA8B-F3E8-285A398A2B46}"/>
            </a:ext>
          </a:extLst>
        </p:cNvPr>
        <p:cNvGrpSpPr/>
        <p:nvPr/>
      </p:nvGrpSpPr>
      <p:grpSpPr>
        <a:xfrm>
          <a:off x="0" y="0"/>
          <a:ext cx="0" cy="0"/>
          <a:chOff x="0" y="0"/>
          <a:chExt cx="0" cy="0"/>
        </a:xfrm>
      </p:grpSpPr>
      <p:sp>
        <p:nvSpPr>
          <p:cNvPr id="566" name="Google Shape;566;p37:notes">
            <a:extLst>
              <a:ext uri="{FF2B5EF4-FFF2-40B4-BE49-F238E27FC236}">
                <a16:creationId xmlns:a16="http://schemas.microsoft.com/office/drawing/2014/main" id="{C8EC46C2-10C7-FAA1-D72D-4E532DE5F6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a:extLst>
              <a:ext uri="{FF2B5EF4-FFF2-40B4-BE49-F238E27FC236}">
                <a16:creationId xmlns:a16="http://schemas.microsoft.com/office/drawing/2014/main" id="{00F6E907-6D01-420D-3939-8F7845892C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029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864447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737482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043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330376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28262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585974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207235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4220932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616263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942262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97229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5/12/2026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Tree>
    <p:extLst>
      <p:ext uri="{BB962C8B-B14F-4D97-AF65-F5344CB8AC3E}">
        <p14:creationId xmlns:p14="http://schemas.microsoft.com/office/powerpoint/2010/main" val="4118370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oracle.com/java/technologies/java-ee-glance.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RESTFUL EN .NET SIN BASE DE DATOS </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Axel Herrera</a:t>
            </a:r>
            <a:br>
              <a:rPr lang="es-ES" b="1" dirty="0">
                <a:solidFill>
                  <a:schemeClr val="lt1"/>
                </a:solidFill>
              </a:rPr>
            </a:br>
            <a:r>
              <a:rPr lang="es-ES" b="1" dirty="0">
                <a:solidFill>
                  <a:schemeClr val="lt1"/>
                </a:solidFill>
              </a:rPr>
              <a:t>		Cristian Robalino</a:t>
            </a:r>
            <a:br>
              <a:rPr lang="es-ES" b="1" dirty="0">
                <a:solidFill>
                  <a:schemeClr val="lt1"/>
                </a:solidFill>
              </a:rPr>
            </a:br>
            <a:r>
              <a:rPr lang="es-ES" b="1" dirty="0">
                <a:solidFill>
                  <a:schemeClr val="lt1"/>
                </a:solidFill>
              </a:rPr>
              <a:t>		Raúl Silva</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dirty="0">
                <a:solidFill>
                  <a:schemeClr val="lt1"/>
                </a:solidFill>
                <a:latin typeface="Gill Sans"/>
              </a:rPr>
              <a:t>30741</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12/5/2026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Marcador de contenido 2">
            <a:extLst>
              <a:ext uri="{FF2B5EF4-FFF2-40B4-BE49-F238E27FC236}">
                <a16:creationId xmlns:a16="http://schemas.microsoft.com/office/drawing/2014/main" id="{E7FCC8BE-29CF-4C4C-BE9D-AC08DC5E481A}"/>
              </a:ext>
            </a:extLst>
          </p:cNvPr>
          <p:cNvSpPr>
            <a:spLocks noGrp="1"/>
          </p:cNvSpPr>
          <p:nvPr>
            <p:ph idx="1"/>
          </p:nvPr>
        </p:nvSpPr>
        <p:spPr>
          <a:xfrm>
            <a:off x="596348" y="701336"/>
            <a:ext cx="3389726" cy="5424255"/>
          </a:xfrm>
        </p:spPr>
        <p:txBody>
          <a:bodyPr vert="horz" lIns="91440" tIns="45720" rIns="91440" bIns="45720" rtlCol="0" anchor="ctr">
            <a:normAutofit/>
          </a:bodyPr>
          <a:lstStyle/>
          <a:p>
            <a:pPr>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INTRODUCCIÓN</a:t>
            </a:r>
          </a:p>
          <a:p>
            <a:pPr>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OBJETIVO</a:t>
            </a:r>
          </a:p>
          <a:p>
            <a:pPr>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MARCO TEÓRICO</a:t>
            </a: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DESCRIPCIÓN DEL TALLER</a:t>
            </a: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CONCLUSIONES</a:t>
            </a: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RECOMENDACIONES</a:t>
            </a:r>
            <a:endParaRPr lang="es-ES" sz="1100" dirty="0">
              <a:solidFill>
                <a:schemeClr val="dk1"/>
              </a:solidFill>
              <a:latin typeface="Arial"/>
              <a:ea typeface="Calibri"/>
              <a:cs typeface="Arial"/>
              <a:sym typeface="Arial"/>
            </a:endParaRP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BIBLIOGRAFÍA </a:t>
            </a:r>
            <a:endParaRPr lang="es-ES" dirty="0">
              <a:solidFill>
                <a:schemeClr val="lt1"/>
              </a:solidFill>
            </a:endParaRP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INTRODUCCIÓN</a:t>
            </a:r>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360"/>
              </a:spcBef>
              <a:spcAft>
                <a:spcPts val="0"/>
              </a:spcAft>
              <a:buSzPts val="1656"/>
              <a:buChar char="◼"/>
            </a:pPr>
            <a:r>
              <a:rPr lang="es-ES" sz="1800">
                <a:latin typeface="Times New Roman"/>
                <a:ea typeface="Times New Roman"/>
                <a:cs typeface="Times New Roman"/>
                <a:sym typeface="Times New Roman"/>
              </a:rPr>
              <a:t>Los servicios web son totalmente independientes de lenguajes y plataformas, un servicio web escrito en C# puede ser accedido por clientes escritos en otros lenguajes o plataformas y viceversa. DotNet soporta la creación de servicios WEB usando los dos métodos, pero este capítulo se centrará en el desarrollo de servicios web usando RESTFUL para ello se usará un lenguaje de definición de servicios web.</a:t>
            </a:r>
            <a:endParaRPr sz="1800">
              <a:latin typeface="Calibri"/>
              <a:ea typeface="Calibri"/>
              <a:cs typeface="Calibri"/>
              <a:sym typeface="Calibri"/>
            </a:endParaRPr>
          </a:p>
          <a:p>
            <a:pPr marL="457200" lvl="0" indent="-333756" algn="just" rtl="0">
              <a:lnSpc>
                <a:spcPct val="107000"/>
              </a:lnSpc>
              <a:spcBef>
                <a:spcPts val="1160"/>
              </a:spcBef>
              <a:spcAft>
                <a:spcPts val="800"/>
              </a:spcAft>
              <a:buSzPts val="1656"/>
              <a:buChar char="◼"/>
            </a:pPr>
            <a:r>
              <a:rPr lang="es-ES" sz="1800">
                <a:latin typeface="Times New Roman"/>
                <a:ea typeface="Times New Roman"/>
                <a:cs typeface="Times New Roman"/>
                <a:sym typeface="Times New Roman"/>
              </a:rPr>
              <a:t>Una de las grandes ventajas de los servicios Web es que pueden ser accedidos desde cualquier aplicación que sea capaz de generar mensajes e interpretar mensajes escritos en </a:t>
            </a:r>
            <a:r>
              <a:rPr lang="es-ES">
                <a:latin typeface="Times New Roman"/>
                <a:ea typeface="Times New Roman"/>
                <a:cs typeface="Times New Roman"/>
                <a:sym typeface="Times New Roman"/>
              </a:rPr>
              <a:t>RESTFUL</a:t>
            </a:r>
            <a:r>
              <a:rPr lang="es-ES" sz="1800">
                <a:latin typeface="Times New Roman"/>
                <a:ea typeface="Times New Roman"/>
                <a:cs typeface="Times New Roman"/>
                <a:sym typeface="Times New Roman"/>
              </a:rPr>
              <a:t>, aún cuando ésta no esté diseñada para la plataforma .NET Es más, los aplicaciones que consuman estos servicios no necesitan conocer ni cuál es la plataforma ni cuál es el modelo de objetos ni cuál es el lenguaje utilizado para implementar estos servicios. </a:t>
            </a:r>
            <a:endParaRPr sz="1800">
              <a:latin typeface="Calibri"/>
              <a:ea typeface="Calibri"/>
              <a:cs typeface="Calibri"/>
              <a:sym typeface="Calibri"/>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a:solidFill>
                  <a:srgbClr val="FFFF00"/>
                </a:solidFill>
                <a:latin typeface="Calibri"/>
                <a:ea typeface="Calibri"/>
                <a:cs typeface="Calibri"/>
                <a:sym typeface="Calibri"/>
              </a:rPr>
              <a:t>INTRODUCCIÓN</a:t>
            </a:r>
            <a:endParaRPr sz="2100" b="1" i="0" u="none" strike="noStrike" cap="none">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OBJETIVO</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MARCO TEÓRICO</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DESCRIPCIÓN DEL TALLER</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DESARROLLO</a:t>
            </a:r>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CONCLUSIONES</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RECOMENDACIONES</a:t>
            </a:r>
            <a:endParaRPr sz="1400" b="0" i="0" u="none" strike="noStrike" cap="none">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BIBLIOGRAFÍA </a:t>
            </a:r>
            <a:endParaRPr sz="2100" b="1" i="0" u="none" strike="noStrike" cap="none">
              <a:solidFill>
                <a:srgbClr val="FFFF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29" name="Google Shape;129;p4" descr="Imagen que contiene electrónica, circuito&#10;&#10;Descripción generada automáticamente"/>
          <p:cNvPicPr preferRelativeResize="0"/>
          <p:nvPr/>
        </p:nvPicPr>
        <p:blipFill rotWithShape="1">
          <a:blip r:embed="rId3">
            <a:alphaModFix amt="35000"/>
          </a:blip>
          <a:srcRect t="15730"/>
          <a:stretch/>
        </p:blipFill>
        <p:spPr>
          <a:xfrm>
            <a:off x="-2500" y="10"/>
            <a:ext cx="12191980" cy="6857990"/>
          </a:xfrm>
          <a:prstGeom prst="rect">
            <a:avLst/>
          </a:prstGeom>
          <a:noFill/>
          <a:ln>
            <a:noFill/>
          </a:ln>
        </p:spPr>
      </p:pic>
      <p:sp>
        <p:nvSpPr>
          <p:cNvPr id="130" name="Google Shape;130;p4"/>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OBJETIVO</a:t>
            </a:r>
            <a:endParaRPr/>
          </a:p>
        </p:txBody>
      </p:sp>
      <p:grpSp>
        <p:nvGrpSpPr>
          <p:cNvPr id="132" name="Google Shape;132;p4"/>
          <p:cNvGrpSpPr/>
          <p:nvPr/>
        </p:nvGrpSpPr>
        <p:grpSpPr>
          <a:xfrm>
            <a:off x="446534" y="453643"/>
            <a:ext cx="11298933" cy="98554"/>
            <a:chOff x="446534" y="453643"/>
            <a:chExt cx="11298933" cy="98554"/>
          </a:xfrm>
        </p:grpSpPr>
        <p:sp>
          <p:nvSpPr>
            <p:cNvPr id="133" name="Google Shape;133;p4"/>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4"/>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6" name="Google Shape;136;p4"/>
          <p:cNvSpPr txBox="1">
            <a:spLocks noGrp="1"/>
          </p:cNvSpPr>
          <p:nvPr>
            <p:ph type="body" idx="1"/>
          </p:nvPr>
        </p:nvSpPr>
        <p:spPr>
          <a:xfrm>
            <a:off x="440281" y="2418102"/>
            <a:ext cx="8620500" cy="3080100"/>
          </a:xfrm>
          <a:prstGeom prst="rect">
            <a:avLst/>
          </a:prstGeom>
          <a:noFill/>
          <a:ln>
            <a:noFill/>
          </a:ln>
        </p:spPr>
        <p:txBody>
          <a:bodyPr spcFirstLastPara="1" wrap="square" lIns="91425" tIns="45700" rIns="91425" bIns="45700" anchor="ctr" anchorCtr="0">
            <a:normAutofit/>
          </a:bodyPr>
          <a:lstStyle/>
          <a:p>
            <a:pPr marL="457200" lvl="0" indent="-333756" algn="l" rtl="0">
              <a:lnSpc>
                <a:spcPct val="107000"/>
              </a:lnSpc>
              <a:spcBef>
                <a:spcPts val="360"/>
              </a:spcBef>
              <a:spcAft>
                <a:spcPts val="800"/>
              </a:spcAft>
              <a:buSzPts val="1656"/>
              <a:buChar char="◼"/>
            </a:pPr>
            <a:r>
              <a:rPr lang="es-ES">
                <a:latin typeface="Times New Roman"/>
                <a:ea typeface="Times New Roman"/>
                <a:cs typeface="Times New Roman"/>
                <a:sym typeface="Times New Roman"/>
              </a:rPr>
              <a:t>Desarrollar y consumir un servicio en DOTNET usando tecnología RESTFUL para conversión de unidades, por medio de la configuración y codificación del servidor y respectivos clientes con el fin de comprender el funcionamiento y formas de comunicación entre varios tipos clientes hacia un servidor</a:t>
            </a:r>
            <a:r>
              <a:rPr lang="es-ES" sz="1800">
                <a:latin typeface="Times New Roman"/>
                <a:ea typeface="Times New Roman"/>
                <a:cs typeface="Times New Roman"/>
                <a:sym typeface="Times New Roman"/>
              </a:rPr>
              <a:t>.</a:t>
            </a:r>
            <a:endParaRPr sz="1800">
              <a:latin typeface="Calibri"/>
              <a:ea typeface="Calibri"/>
              <a:cs typeface="Calibri"/>
              <a:sym typeface="Calibri"/>
            </a:endParaRPr>
          </a:p>
        </p:txBody>
      </p:sp>
      <p:sp>
        <p:nvSpPr>
          <p:cNvPr id="137" name="Google Shape;137;p4"/>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a:solidFill>
                  <a:schemeClr val="lt1"/>
                </a:solidFill>
                <a:latin typeface="Calibri"/>
                <a:ea typeface="Calibri"/>
                <a:cs typeface="Calibri"/>
                <a:sym typeface="Calibri"/>
              </a:rPr>
              <a:t>INTRODUCCIÓN</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rgbClr val="FFFF00"/>
                </a:solidFill>
                <a:latin typeface="Calibri"/>
                <a:ea typeface="Calibri"/>
                <a:cs typeface="Calibri"/>
                <a:sym typeface="Calibri"/>
              </a:rPr>
              <a:t>OBJETIVO</a:t>
            </a:r>
            <a:endParaRPr sz="2100" b="1" i="0" u="none" strike="noStrike" cap="none">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MARCO TEÓRICO</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DESCRIPCIÓN DEL TALLER</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DESARROLLO</a:t>
            </a:r>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CONCLUSIONES</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RECOMENDACIONES</a:t>
            </a:r>
            <a:endParaRPr sz="1400" b="0" i="0" u="none" strike="noStrike" cap="none">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BIBLIOGRAFÍA </a:t>
            </a:r>
            <a:endParaRPr sz="2100" b="1" i="0" u="none" strike="noStrike" cap="none">
              <a:solidFill>
                <a:srgbClr val="FFFF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0" lvl="0" indent="0">
              <a:lnSpc>
                <a:spcPct val="115000"/>
              </a:lnSpc>
              <a:spcBef>
                <a:spcPts val="500"/>
              </a:spcBef>
              <a:spcAft>
                <a:spcPts val="1000"/>
              </a:spcAft>
              <a:buSzPct val="91999"/>
              <a:buNone/>
            </a:pPr>
            <a:r>
              <a:rPr lang="es-ES" dirty="0">
                <a:latin typeface="Calibri"/>
                <a:ea typeface="Calibri"/>
                <a:cs typeface="Calibri"/>
                <a:sym typeface="Calibri"/>
              </a:rPr>
              <a:t>Para crear el proyecto se debe crear un proyecto de tipo ASP NET CORE WEB API, una vez establecido el nombre, Se selecciona la versión de NET(se selecciona automáticamente), se desactiva la configuración para https y finalmente se selecciona “crear”.</a:t>
            </a:r>
            <a:endParaRPr dirty="0">
              <a:solidFill>
                <a:schemeClr val="dk1"/>
              </a:solidFill>
            </a:endParaRPr>
          </a:p>
          <a:p>
            <a:pPr marL="306000" lvl="0" indent="0" algn="l" rtl="0">
              <a:lnSpc>
                <a:spcPct val="115000"/>
              </a:lnSpc>
              <a:spcBef>
                <a:spcPts val="1200"/>
              </a:spcBef>
              <a:spcAft>
                <a:spcPts val="0"/>
              </a:spcAft>
              <a:buSzPts val="1948"/>
              <a:buNone/>
            </a:pP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dirty="0">
                <a:solidFill>
                  <a:srgbClr val="FFFF00"/>
                </a:solidFill>
                <a:latin typeface="Gill Sans"/>
                <a:ea typeface="Gill Sans"/>
                <a:cs typeface="Gill Sans"/>
                <a:sym typeface="Gill Sans"/>
              </a:rPr>
              <a:t>2</a:t>
            </a:r>
            <a:r>
              <a:rPr lang="es-ES" sz="1100" b="0" i="0" u="none" strike="noStrike" cap="none" dirty="0">
                <a:solidFill>
                  <a:srgbClr val="FFFF00"/>
                </a:solidFill>
                <a:latin typeface="Gill Sans"/>
                <a:ea typeface="Gill Sans"/>
                <a:cs typeface="Gill Sans"/>
                <a:sym typeface="Gill Sans"/>
              </a:rPr>
              <a:t>	</a:t>
            </a:r>
            <a:r>
              <a:rPr lang="es-ES" sz="1100" dirty="0">
                <a:solidFill>
                  <a:srgbClr val="FFFF00"/>
                </a:solidFill>
                <a:latin typeface="Gill Sans"/>
                <a:ea typeface="Gill Sans"/>
                <a:cs typeface="Gill Sans"/>
                <a:sym typeface="Gill Sans"/>
              </a:rPr>
              <a:t>DESARROLLO</a:t>
            </a:r>
            <a:endParaRPr sz="1100" b="0" i="0" u="none" strike="noStrike" cap="none" dirty="0">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5	RECOMENDACIONES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6	BIBLIOGRAFÍA</a:t>
            </a:r>
            <a:endParaRPr sz="1100" b="0" i="0" u="none" strike="noStrike" cap="none" dirty="0">
              <a:solidFill>
                <a:srgbClr val="FFFF00"/>
              </a:solidFill>
              <a:latin typeface="Gill Sans"/>
              <a:ea typeface="Gill Sans"/>
              <a:cs typeface="Gill Sans"/>
              <a:sym typeface="Gill Sans"/>
            </a:endParaRPr>
          </a:p>
        </p:txBody>
      </p:sp>
      <p:pic>
        <p:nvPicPr>
          <p:cNvPr id="2" name="Imagen 1">
            <a:extLst>
              <a:ext uri="{FF2B5EF4-FFF2-40B4-BE49-F238E27FC236}">
                <a16:creationId xmlns:a16="http://schemas.microsoft.com/office/drawing/2014/main" id="{37E2D880-3C39-CC2A-1B0E-19F944667CBC}"/>
              </a:ext>
            </a:extLst>
          </p:cNvPr>
          <p:cNvPicPr>
            <a:picLocks noChangeAspect="1"/>
          </p:cNvPicPr>
          <p:nvPr/>
        </p:nvPicPr>
        <p:blipFill>
          <a:blip r:embed="rId3"/>
          <a:stretch>
            <a:fillRect/>
          </a:stretch>
        </p:blipFill>
        <p:spPr>
          <a:xfrm>
            <a:off x="3312300" y="2057800"/>
            <a:ext cx="3129280" cy="2422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Google Shape;154;p22">
            <a:extLst>
              <a:ext uri="{FF2B5EF4-FFF2-40B4-BE49-F238E27FC236}">
                <a16:creationId xmlns:a16="http://schemas.microsoft.com/office/drawing/2014/main" id="{2B056879-5224-BFFA-BB13-E33742704EBB}"/>
              </a:ext>
            </a:extLst>
          </p:cNvPr>
          <p:cNvPicPr preferRelativeResize="0"/>
          <p:nvPr/>
        </p:nvPicPr>
        <p:blipFill rotWithShape="1">
          <a:blip r:embed="rId4">
            <a:alphaModFix/>
          </a:blip>
          <a:srcRect r="42022"/>
          <a:stretch/>
        </p:blipFill>
        <p:spPr>
          <a:xfrm>
            <a:off x="5870855" y="2878016"/>
            <a:ext cx="2847413" cy="3429000"/>
          </a:xfrm>
          <a:prstGeom prst="rect">
            <a:avLst/>
          </a:prstGeom>
          <a:noFill/>
          <a:ln w="50800" cap="flat" cmpd="sng">
            <a:solidFill>
              <a:srgbClr val="000000"/>
            </a:solidFill>
            <a:prstDash val="solid"/>
            <a:miter lim="8000"/>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2040906" y="2180492"/>
            <a:ext cx="5520479" cy="1500554"/>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dirty="0">
                <a:solidFill>
                  <a:schemeClr val="dk1"/>
                </a:solidFill>
              </a:rPr>
              <a:t>El proyecto correrá en IIS </a:t>
            </a:r>
            <a:r>
              <a:rPr lang="es-EC" dirty="0">
                <a:solidFill>
                  <a:schemeClr val="dk1"/>
                </a:solidFill>
              </a:rPr>
              <a:t>por lo que es necesario tenerlo previamente configurado</a:t>
            </a:r>
            <a:endParaRPr dirty="0">
              <a:solidFill>
                <a:schemeClr val="dk1"/>
              </a:solidFill>
            </a:endParaRPr>
          </a:p>
          <a:p>
            <a:pPr marL="0" lvl="0" indent="0" algn="l" rtl="0">
              <a:lnSpc>
                <a:spcPct val="115000"/>
              </a:lnSpc>
              <a:spcBef>
                <a:spcPts val="1200"/>
              </a:spcBef>
              <a:spcAft>
                <a:spcPts val="0"/>
              </a:spcAft>
              <a:buClr>
                <a:schemeClr val="dk1"/>
              </a:buClr>
              <a:buSzPts val="1656"/>
              <a:buNone/>
            </a:pPr>
            <a:r>
              <a:rPr lang="es-ES" dirty="0">
                <a:solidFill>
                  <a:schemeClr val="dk1"/>
                </a:solidFill>
              </a:rPr>
              <a:t> </a:t>
            </a:r>
            <a:endParaRPr dirty="0">
              <a:solidFill>
                <a:schemeClr val="dk1"/>
              </a:solidFill>
            </a:endParaRPr>
          </a:p>
          <a:p>
            <a:pPr marL="306000" lvl="0" indent="0" algn="l" rtl="0">
              <a:lnSpc>
                <a:spcPct val="115000"/>
              </a:lnSpc>
              <a:spcBef>
                <a:spcPts val="1200"/>
              </a:spcBef>
              <a:spcAft>
                <a:spcPts val="0"/>
              </a:spcAft>
              <a:buSzPts val="1948"/>
              <a:buNone/>
            </a:pP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5" name="Imagen 4">
            <a:extLst>
              <a:ext uri="{FF2B5EF4-FFF2-40B4-BE49-F238E27FC236}">
                <a16:creationId xmlns:a16="http://schemas.microsoft.com/office/drawing/2014/main" id="{E13F6DFA-89D5-B474-6AE5-99471A9BB2FA}"/>
              </a:ext>
            </a:extLst>
          </p:cNvPr>
          <p:cNvPicPr>
            <a:picLocks noChangeAspect="1"/>
          </p:cNvPicPr>
          <p:nvPr/>
        </p:nvPicPr>
        <p:blipFill>
          <a:blip r:embed="rId3"/>
          <a:stretch>
            <a:fillRect/>
          </a:stretch>
        </p:blipFill>
        <p:spPr>
          <a:xfrm>
            <a:off x="1077598" y="2637706"/>
            <a:ext cx="7122973" cy="40066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pPr marL="0" indent="0" algn="just">
              <a:spcBef>
                <a:spcPts val="600"/>
              </a:spcBef>
            </a:pPr>
            <a:r>
              <a:rPr lang="es-ES" dirty="0">
                <a:solidFill>
                  <a:srgbClr val="000000"/>
                </a:solidFill>
                <a:latin typeface="Calibri"/>
                <a:ea typeface="Calibri"/>
                <a:cs typeface="Calibri"/>
                <a:sym typeface="Calibri"/>
              </a:rPr>
              <a:t>Para esto al crear una nueva solución se selecciona una aplicación de Windows </a:t>
            </a:r>
            <a:r>
              <a:rPr lang="es-ES" dirty="0" err="1">
                <a:solidFill>
                  <a:srgbClr val="000000"/>
                </a:solidFill>
                <a:latin typeface="Calibri"/>
                <a:ea typeface="Calibri"/>
                <a:cs typeface="Calibri"/>
                <a:sym typeface="Calibri"/>
              </a:rPr>
              <a:t>Forms</a:t>
            </a:r>
            <a:r>
              <a:rPr lang="es-ES" dirty="0">
                <a:solidFill>
                  <a:srgbClr val="000000"/>
                </a:solidFill>
                <a:latin typeface="Calibri"/>
                <a:ea typeface="Calibri"/>
                <a:cs typeface="Calibri"/>
                <a:sym typeface="Calibri"/>
              </a:rPr>
              <a:t> y se configura el nombre de la aplicación y el directorio.</a:t>
            </a:r>
            <a:endParaRPr lang="es-ES" dirty="0">
              <a:latin typeface="Calibri"/>
              <a:ea typeface="Calibri"/>
              <a:cs typeface="Calibri"/>
              <a:sym typeface="Calibri"/>
            </a:endParaRP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10;&#10;Descripción generada automáticamente">
            <a:extLst>
              <a:ext uri="{FF2B5EF4-FFF2-40B4-BE49-F238E27FC236}">
                <a16:creationId xmlns:a16="http://schemas.microsoft.com/office/drawing/2014/main" id="{0EF2B394-B8F4-F79B-C5FB-84634F4ECFF0}"/>
              </a:ext>
            </a:extLst>
          </p:cNvPr>
          <p:cNvPicPr>
            <a:picLocks noChangeAspect="1"/>
          </p:cNvPicPr>
          <p:nvPr/>
        </p:nvPicPr>
        <p:blipFill>
          <a:blip r:embed="rId3"/>
          <a:stretch>
            <a:fillRect/>
          </a:stretch>
        </p:blipFill>
        <p:spPr>
          <a:xfrm>
            <a:off x="5151339" y="2984521"/>
            <a:ext cx="3683435" cy="8889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1611192" cy="4400100"/>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buNone/>
            </a:pPr>
            <a:r>
              <a:rPr lang="es-ES" dirty="0">
                <a:latin typeface="Times New Roman"/>
                <a:ea typeface="Calibri"/>
                <a:cs typeface="Times New Roman"/>
                <a:sym typeface="Times New Roman"/>
              </a:rPr>
              <a:t>Se realiza la conexión con el servicio </a:t>
            </a:r>
            <a:r>
              <a:rPr lang="es-ES" dirty="0" err="1">
                <a:latin typeface="Times New Roman"/>
                <a:ea typeface="Calibri"/>
                <a:cs typeface="Times New Roman"/>
                <a:sym typeface="Times New Roman"/>
              </a:rPr>
              <a:t>restfull</a:t>
            </a:r>
            <a:r>
              <a:rPr lang="es-ES" dirty="0">
                <a:latin typeface="Times New Roman"/>
                <a:ea typeface="Calibri"/>
                <a:cs typeface="Times New Roman"/>
                <a:sym typeface="Times New Roman"/>
              </a:rPr>
              <a:t> en las clases del modelo siguiendo la siguiente estructura.</a:t>
            </a:r>
            <a:endParaRPr lang="es-ES" dirty="0">
              <a:latin typeface="Times New Roman"/>
              <a:ea typeface="Calibri"/>
              <a:cs typeface="Times New Roman"/>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E46368CE-8E10-5BAC-44A5-A1E0398F1D83}"/>
              </a:ext>
            </a:extLst>
          </p:cNvPr>
          <p:cNvPicPr>
            <a:picLocks noChangeAspect="1"/>
          </p:cNvPicPr>
          <p:nvPr/>
        </p:nvPicPr>
        <p:blipFill>
          <a:blip r:embed="rId3"/>
          <a:stretch>
            <a:fillRect/>
          </a:stretch>
        </p:blipFill>
        <p:spPr>
          <a:xfrm>
            <a:off x="2004646" y="2152375"/>
            <a:ext cx="6700472" cy="41499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2524d66b2ad_0_275"/>
          <p:cNvSpPr txBox="1">
            <a:spLocks noGrp="1"/>
          </p:cNvSpPr>
          <p:nvPr>
            <p:ph type="body" idx="1"/>
          </p:nvPr>
        </p:nvSpPr>
        <p:spPr>
          <a:xfrm>
            <a:off x="612840" y="2603043"/>
            <a:ext cx="1204237" cy="3702930"/>
          </a:xfrm>
          <a:prstGeom prst="rect">
            <a:avLst/>
          </a:prstGeom>
          <a:noFill/>
          <a:ln>
            <a:noFill/>
          </a:ln>
        </p:spPr>
        <p:txBody>
          <a:bodyPr spcFirstLastPara="1" wrap="square" lIns="91425" tIns="45700" rIns="91425" bIns="45700" anchor="ctr" anchorCtr="0">
            <a:normAutofit/>
          </a:bodyPr>
          <a:lstStyle/>
          <a:p>
            <a:pPr marL="15775" lvl="0" indent="0" algn="l" rtl="0">
              <a:lnSpc>
                <a:spcPct val="115000"/>
              </a:lnSpc>
              <a:spcBef>
                <a:spcPts val="1200"/>
              </a:spcBef>
              <a:spcAft>
                <a:spcPts val="0"/>
              </a:spcAft>
              <a:buClr>
                <a:schemeClr val="dk1"/>
              </a:buClr>
              <a:buSzPct val="91998"/>
              <a:buNone/>
            </a:pPr>
            <a:r>
              <a:rPr lang="es-EC" dirty="0">
                <a:solidFill>
                  <a:schemeClr val="dk1"/>
                </a:solidFill>
              </a:rPr>
              <a:t>Con el código configurado tenemos las siguientes pantallas:</a:t>
            </a:r>
          </a:p>
          <a:p>
            <a:pPr marL="15775" lvl="0" indent="0" algn="l" rtl="0">
              <a:lnSpc>
                <a:spcPct val="115000"/>
              </a:lnSpc>
              <a:spcBef>
                <a:spcPts val="1200"/>
              </a:spcBef>
              <a:spcAft>
                <a:spcPts val="0"/>
              </a:spcAft>
              <a:buClr>
                <a:schemeClr val="dk1"/>
              </a:buClr>
              <a:buSzPct val="91998"/>
              <a:buNone/>
            </a:pPr>
            <a:r>
              <a:rPr lang="es-EC" dirty="0">
                <a:solidFill>
                  <a:schemeClr val="dk1"/>
                </a:solidFill>
              </a:rPr>
              <a:t>Login</a:t>
            </a:r>
            <a:endParaRPr dirty="0">
              <a:solidFill>
                <a:schemeClr val="dk1"/>
              </a:solidFill>
            </a:endParaRPr>
          </a:p>
          <a:p>
            <a:pPr marL="306000" lvl="0" indent="0" algn="l" rtl="0">
              <a:lnSpc>
                <a:spcPct val="115000"/>
              </a:lnSpc>
              <a:spcBef>
                <a:spcPts val="1200"/>
              </a:spcBef>
              <a:spcAft>
                <a:spcPts val="0"/>
              </a:spcAft>
              <a:buSzPct val="108235"/>
              <a:buNone/>
            </a:pP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361" name="Google Shape;361;g2524d66b2ad_0_27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62" name="Google Shape;362;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3" name="Google Shape;363;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6" name="Google Shape;366;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4" name="Imagen 3">
            <a:extLst>
              <a:ext uri="{FF2B5EF4-FFF2-40B4-BE49-F238E27FC236}">
                <a16:creationId xmlns:a16="http://schemas.microsoft.com/office/drawing/2014/main" id="{8545D544-CDF7-624A-CCEA-4AD6C1F96467}"/>
              </a:ext>
            </a:extLst>
          </p:cNvPr>
          <p:cNvPicPr>
            <a:picLocks noChangeAspect="1"/>
          </p:cNvPicPr>
          <p:nvPr/>
        </p:nvPicPr>
        <p:blipFill>
          <a:blip r:embed="rId3"/>
          <a:stretch>
            <a:fillRect/>
          </a:stretch>
        </p:blipFill>
        <p:spPr>
          <a:xfrm>
            <a:off x="2457239" y="2234235"/>
            <a:ext cx="6660128" cy="4193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0" y="1953936"/>
            <a:ext cx="1958998" cy="4400100"/>
          </a:xfrm>
          <a:prstGeom prst="rect">
            <a:avLst/>
          </a:prstGeom>
          <a:noFill/>
          <a:ln>
            <a:noFill/>
          </a:ln>
        </p:spPr>
        <p:txBody>
          <a:bodyPr spcFirstLastPara="1" wrap="square" lIns="91425" tIns="45700" rIns="91425" bIns="45700" anchor="ctr" anchorCtr="0">
            <a:normAutofit/>
          </a:bodyPr>
          <a:lstStyle/>
          <a:p>
            <a:pPr marL="306000" lvl="0" indent="0" algn="just" rtl="0">
              <a:lnSpc>
                <a:spcPct val="115000"/>
              </a:lnSpc>
              <a:spcBef>
                <a:spcPts val="1200"/>
              </a:spcBef>
              <a:spcAft>
                <a:spcPts val="1200"/>
              </a:spcAft>
              <a:buSzPts val="1948"/>
              <a:buNone/>
            </a:pPr>
            <a:r>
              <a:rPr lang="es-EC" dirty="0">
                <a:solidFill>
                  <a:schemeClr val="dk1"/>
                </a:solidFill>
              </a:rPr>
              <a:t>Conversión</a:t>
            </a: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4" name="Imagen 3">
            <a:extLst>
              <a:ext uri="{FF2B5EF4-FFF2-40B4-BE49-F238E27FC236}">
                <a16:creationId xmlns:a16="http://schemas.microsoft.com/office/drawing/2014/main" id="{5CC2D79F-B269-B471-83A5-E2671456AA3A}"/>
              </a:ext>
            </a:extLst>
          </p:cNvPr>
          <p:cNvPicPr>
            <a:picLocks noChangeAspect="1"/>
          </p:cNvPicPr>
          <p:nvPr/>
        </p:nvPicPr>
        <p:blipFill>
          <a:blip r:embed="rId3"/>
          <a:stretch>
            <a:fillRect/>
          </a:stretch>
        </p:blipFill>
        <p:spPr>
          <a:xfrm>
            <a:off x="2242719" y="1953936"/>
            <a:ext cx="6033774" cy="46852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(JFrame </a:t>
            </a:r>
            <a:r>
              <a:rPr lang="es-MX" dirty="0" err="1">
                <a:solidFill>
                  <a:schemeClr val="dk1"/>
                </a:solidFill>
              </a:rPr>
              <a:t>Form</a:t>
            </a:r>
            <a:r>
              <a:rPr lang="es-MX" dirty="0">
                <a:solidFill>
                  <a:schemeClr val="dk1"/>
                </a:solidFill>
              </a:rPr>
              <a:t>)  </a:t>
            </a:r>
            <a:r>
              <a:rPr lang="es-EC" dirty="0">
                <a:solidFill>
                  <a:schemeClr val="dk1"/>
                </a:solidFill>
              </a:rPr>
              <a:t>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D71A054E-8EAD-49EA-B38D-B123DFDB8514}"/>
              </a:ext>
            </a:extLst>
          </p:cNvPr>
          <p:cNvPicPr>
            <a:picLocks noChangeAspect="1"/>
          </p:cNvPicPr>
          <p:nvPr/>
        </p:nvPicPr>
        <p:blipFill>
          <a:blip r:embed="rId3"/>
          <a:stretch>
            <a:fillRect/>
          </a:stretch>
        </p:blipFill>
        <p:spPr>
          <a:xfrm>
            <a:off x="3955634" y="2528258"/>
            <a:ext cx="4778149" cy="2953284"/>
          </a:xfrm>
          <a:prstGeom prst="rect">
            <a:avLst/>
          </a:prstGeom>
        </p:spPr>
      </p:pic>
    </p:spTree>
    <p:extLst>
      <p:ext uri="{BB962C8B-B14F-4D97-AF65-F5344CB8AC3E}">
        <p14:creationId xmlns:p14="http://schemas.microsoft.com/office/powerpoint/2010/main" val="1664165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1"/>
            <a:ext cx="8118629" cy="975621"/>
          </a:xfrm>
          <a:prstGeom prst="rect">
            <a:avLst/>
          </a:prstGeom>
          <a:noFill/>
          <a:ln>
            <a:noFill/>
          </a:ln>
        </p:spPr>
        <p:txBody>
          <a:bodyPr spcFirstLastPara="1" wrap="square" lIns="91425" tIns="91425" rIns="91425" bIns="91425" anchor="t" anchorCtr="0">
            <a:spAutoFit/>
          </a:bodyPr>
          <a:lstStyle/>
          <a:p>
            <a:pPr algn="just">
              <a:lnSpc>
                <a:spcPct val="115000"/>
              </a:lnSpc>
              <a:spcBef>
                <a:spcPts val="1200"/>
              </a:spcBef>
              <a:buSzPts val="1700"/>
            </a:pPr>
            <a:r>
              <a:rPr lang="es-ES" sz="1800" dirty="0">
                <a:latin typeface="Calibri"/>
                <a:ea typeface="Calibri"/>
                <a:cs typeface="Calibri"/>
                <a:sym typeface="Calibri"/>
              </a:rPr>
              <a:t>Para esto al crear una nueva solución se selecciona una app de tipo consola y se establece el nombre de la App</a:t>
            </a:r>
            <a:endParaRPr lang="es-ES" sz="1600" dirty="0">
              <a:latin typeface="Calibri"/>
              <a:ea typeface="Calibri"/>
              <a:cs typeface="Calibri"/>
              <a:sym typeface="Calibri"/>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Google Shape;210;p37">
            <a:extLst>
              <a:ext uri="{FF2B5EF4-FFF2-40B4-BE49-F238E27FC236}">
                <a16:creationId xmlns:a16="http://schemas.microsoft.com/office/drawing/2014/main" id="{CDE87F96-E273-4F52-23DD-DAB52ECFCC54}"/>
              </a:ext>
            </a:extLst>
          </p:cNvPr>
          <p:cNvPicPr preferRelativeResize="0"/>
          <p:nvPr/>
        </p:nvPicPr>
        <p:blipFill rotWithShape="1">
          <a:blip r:embed="rId3">
            <a:alphaModFix/>
          </a:blip>
          <a:srcRect r="19152"/>
          <a:stretch/>
        </p:blipFill>
        <p:spPr>
          <a:xfrm>
            <a:off x="2338356" y="3601690"/>
            <a:ext cx="3881199" cy="1123950"/>
          </a:xfrm>
          <a:prstGeom prst="rect">
            <a:avLst/>
          </a:prstGeom>
          <a:noFill/>
          <a:ln w="50800" cap="flat" cmpd="sng">
            <a:solidFill>
              <a:srgbClr val="000000"/>
            </a:solidFill>
            <a:prstDash val="solid"/>
            <a:miter lim="8000"/>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5">
          <a:extLst>
            <a:ext uri="{FF2B5EF4-FFF2-40B4-BE49-F238E27FC236}">
              <a16:creationId xmlns:a16="http://schemas.microsoft.com/office/drawing/2014/main" id="{FB8C5EB5-A579-BFB8-D70F-FA9E37E28466}"/>
            </a:ext>
          </a:extLst>
        </p:cNvPr>
        <p:cNvGrpSpPr/>
        <p:nvPr/>
      </p:nvGrpSpPr>
      <p:grpSpPr>
        <a:xfrm>
          <a:off x="0" y="0"/>
          <a:ext cx="0" cy="0"/>
          <a:chOff x="0" y="0"/>
          <a:chExt cx="0" cy="0"/>
        </a:xfrm>
      </p:grpSpPr>
      <p:sp>
        <p:nvSpPr>
          <p:cNvPr id="436" name="Google Shape;436;g1dc40ab34ca_0_211">
            <a:extLst>
              <a:ext uri="{FF2B5EF4-FFF2-40B4-BE49-F238E27FC236}">
                <a16:creationId xmlns:a16="http://schemas.microsoft.com/office/drawing/2014/main" id="{2EF41AEC-0572-8238-3F05-2181CD479CF6}"/>
              </a:ext>
            </a:extLst>
          </p:cNvPr>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dirty="0"/>
          </a:p>
          <a:p>
            <a:pPr marL="0" lvl="0" indent="0" algn="l" rtl="0">
              <a:lnSpc>
                <a:spcPct val="100000"/>
              </a:lnSpc>
              <a:spcBef>
                <a:spcPts val="0"/>
              </a:spcBef>
              <a:spcAft>
                <a:spcPts val="0"/>
              </a:spcAft>
              <a:buClr>
                <a:schemeClr val="lt1"/>
              </a:buClr>
              <a:buSzPct val="100000"/>
              <a:buFont typeface="Gill Sans"/>
              <a:buNone/>
            </a:pPr>
            <a:endParaRPr dirty="0"/>
          </a:p>
        </p:txBody>
      </p:sp>
      <p:sp>
        <p:nvSpPr>
          <p:cNvPr id="437" name="Google Shape;437;g1dc40ab34ca_0_211">
            <a:extLst>
              <a:ext uri="{FF2B5EF4-FFF2-40B4-BE49-F238E27FC236}">
                <a16:creationId xmlns:a16="http://schemas.microsoft.com/office/drawing/2014/main" id="{C1890FE0-DB37-BCF9-5FFD-F4423519E08B}"/>
              </a:ext>
            </a:extLst>
          </p:cNvPr>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a:extLst>
              <a:ext uri="{FF2B5EF4-FFF2-40B4-BE49-F238E27FC236}">
                <a16:creationId xmlns:a16="http://schemas.microsoft.com/office/drawing/2014/main" id="{6FDB2624-D1E0-3893-3EF1-CDB6F86371D1}"/>
              </a:ext>
            </a:extLst>
          </p:cNvPr>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a:extLst>
              <a:ext uri="{FF2B5EF4-FFF2-40B4-BE49-F238E27FC236}">
                <a16:creationId xmlns:a16="http://schemas.microsoft.com/office/drawing/2014/main" id="{43A21493-9CD9-7AC5-CEDF-B2B4D8F51759}"/>
              </a:ext>
            </a:extLst>
          </p:cNvPr>
          <p:cNvSpPr txBox="1"/>
          <p:nvPr/>
        </p:nvSpPr>
        <p:spPr>
          <a:xfrm>
            <a:off x="392325" y="1898901"/>
            <a:ext cx="8118629" cy="885853"/>
          </a:xfrm>
          <a:prstGeom prst="rect">
            <a:avLst/>
          </a:prstGeom>
          <a:noFill/>
          <a:ln>
            <a:noFill/>
          </a:ln>
        </p:spPr>
        <p:txBody>
          <a:bodyPr spcFirstLastPara="1" wrap="square" lIns="91425" tIns="91425" rIns="91425" bIns="91425" anchor="t" anchorCtr="0">
            <a:spAutoFit/>
          </a:bodyPr>
          <a:lstStyle/>
          <a:p>
            <a:pPr lvl="0">
              <a:lnSpc>
                <a:spcPct val="115000"/>
              </a:lnSpc>
              <a:spcBef>
                <a:spcPts val="500"/>
              </a:spcBef>
              <a:buSzPts val="1656"/>
            </a:pPr>
            <a:r>
              <a:rPr lang="es-ES" sz="1800" dirty="0">
                <a:latin typeface="Times New Roman"/>
                <a:ea typeface="Times New Roman"/>
                <a:cs typeface="Times New Roman"/>
                <a:sym typeface="Times New Roman"/>
              </a:rPr>
              <a:t>Ahora se debe crear la estructura del proyecto en este caso modelo, vista, controlador, para esto se da clic derecho en el proyecto y se agregan las respectivas carpetas.</a:t>
            </a:r>
            <a:endParaRPr lang="es-ES" sz="1800" dirty="0">
              <a:latin typeface="Calibri"/>
              <a:ea typeface="Calibri"/>
              <a:cs typeface="Calibri"/>
              <a:sym typeface="Calibri"/>
            </a:endParaRPr>
          </a:p>
        </p:txBody>
      </p:sp>
      <p:sp>
        <p:nvSpPr>
          <p:cNvPr id="440" name="Google Shape;440;g1dc40ab34ca_0_211">
            <a:extLst>
              <a:ext uri="{FF2B5EF4-FFF2-40B4-BE49-F238E27FC236}">
                <a16:creationId xmlns:a16="http://schemas.microsoft.com/office/drawing/2014/main" id="{13F395FD-560A-EC86-3551-BD422E2303DC}"/>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a:extLst>
              <a:ext uri="{FF2B5EF4-FFF2-40B4-BE49-F238E27FC236}">
                <a16:creationId xmlns:a16="http://schemas.microsoft.com/office/drawing/2014/main" id="{C9D52440-17A7-218D-2782-D2280933DC19}"/>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a:extLst>
              <a:ext uri="{FF2B5EF4-FFF2-40B4-BE49-F238E27FC236}">
                <a16:creationId xmlns:a16="http://schemas.microsoft.com/office/drawing/2014/main" id="{B853968E-1A34-F225-4CB0-3854A8DEE58A}"/>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6" name="Imagen 5">
            <a:extLst>
              <a:ext uri="{FF2B5EF4-FFF2-40B4-BE49-F238E27FC236}">
                <a16:creationId xmlns:a16="http://schemas.microsoft.com/office/drawing/2014/main" id="{1F5FBF4F-3589-3FFA-E0F0-F2C807DD2C91}"/>
              </a:ext>
            </a:extLst>
          </p:cNvPr>
          <p:cNvPicPr>
            <a:picLocks noChangeAspect="1"/>
          </p:cNvPicPr>
          <p:nvPr/>
        </p:nvPicPr>
        <p:blipFill>
          <a:blip r:embed="rId3"/>
          <a:stretch>
            <a:fillRect/>
          </a:stretch>
        </p:blipFill>
        <p:spPr>
          <a:xfrm>
            <a:off x="2999992" y="3196998"/>
            <a:ext cx="5080319" cy="2641094"/>
          </a:xfrm>
          <a:prstGeom prst="rect">
            <a:avLst/>
          </a:prstGeom>
        </p:spPr>
      </p:pic>
    </p:spTree>
    <p:extLst>
      <p:ext uri="{BB962C8B-B14F-4D97-AF65-F5344CB8AC3E}">
        <p14:creationId xmlns:p14="http://schemas.microsoft.com/office/powerpoint/2010/main" val="1240951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5">
          <a:extLst>
            <a:ext uri="{FF2B5EF4-FFF2-40B4-BE49-F238E27FC236}">
              <a16:creationId xmlns:a16="http://schemas.microsoft.com/office/drawing/2014/main" id="{E2EFB77F-3D72-3C9C-5ECF-90DD47778F52}"/>
            </a:ext>
          </a:extLst>
        </p:cNvPr>
        <p:cNvGrpSpPr/>
        <p:nvPr/>
      </p:nvGrpSpPr>
      <p:grpSpPr>
        <a:xfrm>
          <a:off x="0" y="0"/>
          <a:ext cx="0" cy="0"/>
          <a:chOff x="0" y="0"/>
          <a:chExt cx="0" cy="0"/>
        </a:xfrm>
      </p:grpSpPr>
      <p:sp>
        <p:nvSpPr>
          <p:cNvPr id="436" name="Google Shape;436;g1dc40ab34ca_0_211">
            <a:extLst>
              <a:ext uri="{FF2B5EF4-FFF2-40B4-BE49-F238E27FC236}">
                <a16:creationId xmlns:a16="http://schemas.microsoft.com/office/drawing/2014/main" id="{EE0CFC43-36DA-F6B0-A182-DA2ABA66946F}"/>
              </a:ext>
            </a:extLst>
          </p:cNvPr>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dirty="0"/>
          </a:p>
          <a:p>
            <a:pPr marL="0" lvl="0" indent="0" algn="l" rtl="0">
              <a:lnSpc>
                <a:spcPct val="100000"/>
              </a:lnSpc>
              <a:spcBef>
                <a:spcPts val="0"/>
              </a:spcBef>
              <a:spcAft>
                <a:spcPts val="0"/>
              </a:spcAft>
              <a:buClr>
                <a:schemeClr val="lt1"/>
              </a:buClr>
              <a:buSzPct val="100000"/>
              <a:buFont typeface="Gill Sans"/>
              <a:buNone/>
            </a:pPr>
            <a:endParaRPr dirty="0"/>
          </a:p>
        </p:txBody>
      </p:sp>
      <p:sp>
        <p:nvSpPr>
          <p:cNvPr id="437" name="Google Shape;437;g1dc40ab34ca_0_211">
            <a:extLst>
              <a:ext uri="{FF2B5EF4-FFF2-40B4-BE49-F238E27FC236}">
                <a16:creationId xmlns:a16="http://schemas.microsoft.com/office/drawing/2014/main" id="{FED4A0BA-4768-64CF-91FD-4574B963E15F}"/>
              </a:ext>
            </a:extLst>
          </p:cNvPr>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a:extLst>
              <a:ext uri="{FF2B5EF4-FFF2-40B4-BE49-F238E27FC236}">
                <a16:creationId xmlns:a16="http://schemas.microsoft.com/office/drawing/2014/main" id="{7BC98E74-1519-BAB4-CEC7-38235ECD9A12}"/>
              </a:ext>
            </a:extLst>
          </p:cNvPr>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a:extLst>
              <a:ext uri="{FF2B5EF4-FFF2-40B4-BE49-F238E27FC236}">
                <a16:creationId xmlns:a16="http://schemas.microsoft.com/office/drawing/2014/main" id="{2E510866-BA63-5C76-B637-C61F04118F71}"/>
              </a:ext>
            </a:extLst>
          </p:cNvPr>
          <p:cNvSpPr txBox="1"/>
          <p:nvPr/>
        </p:nvSpPr>
        <p:spPr>
          <a:xfrm>
            <a:off x="392325" y="1898901"/>
            <a:ext cx="8118629" cy="567305"/>
          </a:xfrm>
          <a:prstGeom prst="rect">
            <a:avLst/>
          </a:prstGeom>
          <a:noFill/>
          <a:ln>
            <a:noFill/>
          </a:ln>
        </p:spPr>
        <p:txBody>
          <a:bodyPr spcFirstLastPara="1" wrap="square" lIns="91425" tIns="91425" rIns="91425" bIns="91425" anchor="t" anchorCtr="0">
            <a:spAutoFit/>
          </a:bodyPr>
          <a:lstStyle/>
          <a:p>
            <a:pPr lvl="0">
              <a:lnSpc>
                <a:spcPct val="115000"/>
              </a:lnSpc>
              <a:spcBef>
                <a:spcPts val="500"/>
              </a:spcBef>
              <a:buSzPts val="1656"/>
            </a:pPr>
            <a:r>
              <a:rPr lang="es-ES" sz="1800" dirty="0">
                <a:latin typeface="Times New Roman"/>
                <a:ea typeface="Times New Roman"/>
                <a:cs typeface="Times New Roman"/>
                <a:sym typeface="Times New Roman"/>
              </a:rPr>
              <a:t>Con el código implementado el cliente queda así: </a:t>
            </a:r>
            <a:endParaRPr lang="es-ES" sz="1800" dirty="0">
              <a:latin typeface="Calibri"/>
              <a:ea typeface="Calibri"/>
              <a:cs typeface="Calibri"/>
              <a:sym typeface="Calibri"/>
            </a:endParaRPr>
          </a:p>
        </p:txBody>
      </p:sp>
      <p:sp>
        <p:nvSpPr>
          <p:cNvPr id="440" name="Google Shape;440;g1dc40ab34ca_0_211">
            <a:extLst>
              <a:ext uri="{FF2B5EF4-FFF2-40B4-BE49-F238E27FC236}">
                <a16:creationId xmlns:a16="http://schemas.microsoft.com/office/drawing/2014/main" id="{C996E670-6BFB-60F8-4368-CACFAE25E3E1}"/>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a:extLst>
              <a:ext uri="{FF2B5EF4-FFF2-40B4-BE49-F238E27FC236}">
                <a16:creationId xmlns:a16="http://schemas.microsoft.com/office/drawing/2014/main" id="{F7FD98AE-CC04-A338-7325-E875F86B9059}"/>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a:extLst>
              <a:ext uri="{FF2B5EF4-FFF2-40B4-BE49-F238E27FC236}">
                <a16:creationId xmlns:a16="http://schemas.microsoft.com/office/drawing/2014/main" id="{7855638B-B351-1A47-5476-ECA5A27095EE}"/>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9DE05667-95FE-EFA1-32FC-28822B827595}"/>
              </a:ext>
            </a:extLst>
          </p:cNvPr>
          <p:cNvPicPr>
            <a:picLocks noChangeAspect="1"/>
          </p:cNvPicPr>
          <p:nvPr/>
        </p:nvPicPr>
        <p:blipFill>
          <a:blip r:embed="rId3"/>
          <a:stretch>
            <a:fillRect/>
          </a:stretch>
        </p:blipFill>
        <p:spPr>
          <a:xfrm>
            <a:off x="5040098" y="2759773"/>
            <a:ext cx="4077269" cy="3667637"/>
          </a:xfrm>
          <a:prstGeom prst="rect">
            <a:avLst/>
          </a:prstGeom>
        </p:spPr>
      </p:pic>
      <p:pic>
        <p:nvPicPr>
          <p:cNvPr id="5" name="Imagen 4">
            <a:extLst>
              <a:ext uri="{FF2B5EF4-FFF2-40B4-BE49-F238E27FC236}">
                <a16:creationId xmlns:a16="http://schemas.microsoft.com/office/drawing/2014/main" id="{BBADC99D-7EF4-C721-5E4A-5BA6347356A6}"/>
              </a:ext>
            </a:extLst>
          </p:cNvPr>
          <p:cNvPicPr>
            <a:picLocks noChangeAspect="1"/>
          </p:cNvPicPr>
          <p:nvPr/>
        </p:nvPicPr>
        <p:blipFill>
          <a:blip r:embed="rId4"/>
          <a:stretch>
            <a:fillRect/>
          </a:stretch>
        </p:blipFill>
        <p:spPr>
          <a:xfrm>
            <a:off x="360198" y="2759773"/>
            <a:ext cx="4610743" cy="2210108"/>
          </a:xfrm>
          <a:prstGeom prst="rect">
            <a:avLst/>
          </a:prstGeom>
        </p:spPr>
      </p:pic>
    </p:spTree>
    <p:extLst>
      <p:ext uri="{BB962C8B-B14F-4D97-AF65-F5344CB8AC3E}">
        <p14:creationId xmlns:p14="http://schemas.microsoft.com/office/powerpoint/2010/main" val="1078404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F8F6BF9-3FED-40B0-9F48-D7333CA212F1}"/>
              </a:ext>
            </a:extLst>
          </p:cNvPr>
          <p:cNvPicPr>
            <a:picLocks noChangeAspect="1"/>
          </p:cNvPicPr>
          <p:nvPr/>
        </p:nvPicPr>
        <p:blipFill>
          <a:blip r:embed="rId3"/>
          <a:stretch>
            <a:fillRect/>
          </a:stretch>
        </p:blipFill>
        <p:spPr>
          <a:xfrm>
            <a:off x="2120910" y="1999332"/>
            <a:ext cx="5572903" cy="4582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7973183"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dirty="0"/>
          </a:p>
          <a:p>
            <a:pPr marL="0" lvl="0" indent="0" algn="l" rtl="0">
              <a:lnSpc>
                <a:spcPct val="100000"/>
              </a:lnSpc>
              <a:spcBef>
                <a:spcPts val="0"/>
              </a:spcBef>
              <a:spcAft>
                <a:spcPts val="0"/>
              </a:spcAft>
              <a:buClr>
                <a:schemeClr val="lt1"/>
              </a:buClr>
              <a:buSzPct val="100000"/>
              <a:buFont typeface="Gill Sans"/>
              <a:buNone/>
            </a:pPr>
            <a:r>
              <a:rPr lang="es-ES" dirty="0"/>
              <a:t>2.4</a:t>
            </a:r>
            <a:r>
              <a:rPr lang="es-MX" dirty="0"/>
              <a:t>.	CREACIÓN DEL CLIENTE EN APLICACIÓN DE WEB</a:t>
            </a:r>
            <a:endParaRPr dirty="0"/>
          </a:p>
          <a:p>
            <a:pPr marL="0" lvl="0" indent="0" algn="l" rtl="0">
              <a:lnSpc>
                <a:spcPct val="100000"/>
              </a:lnSpc>
              <a:spcBef>
                <a:spcPts val="0"/>
              </a:spcBef>
              <a:spcAft>
                <a:spcPts val="0"/>
              </a:spcAft>
              <a:buClr>
                <a:schemeClr val="lt1"/>
              </a:buClr>
              <a:buSzPct val="100000"/>
              <a:buFont typeface="Gill Sans"/>
              <a:buNone/>
            </a:pPr>
            <a:endParaRPr dirty="0"/>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949973"/>
          </a:xfrm>
          <a:prstGeom prst="rect">
            <a:avLst/>
          </a:prstGeom>
          <a:noFill/>
          <a:ln>
            <a:noFill/>
          </a:ln>
        </p:spPr>
        <p:txBody>
          <a:bodyPr spcFirstLastPara="1" wrap="square" lIns="91425" tIns="91425" rIns="91425" bIns="91425" anchor="t" anchorCtr="0">
            <a:spAutoFit/>
          </a:bodyPr>
          <a:lstStyle/>
          <a:p>
            <a:pPr>
              <a:lnSpc>
                <a:spcPct val="115000"/>
              </a:lnSpc>
              <a:spcAft>
                <a:spcPts val="1000"/>
              </a:spcAft>
            </a:pPr>
            <a:r>
              <a:rPr lang="es-ES" sz="1800" dirty="0">
                <a:latin typeface="Gill Sans" panose="020B0604020202020204" charset="0"/>
              </a:rPr>
              <a:t>Se crean los paquetes orientados a una arquitectura MVC, todo esto en el </a:t>
            </a:r>
            <a:r>
              <a:rPr lang="es-EC" sz="1800" dirty="0" err="1">
                <a:latin typeface="Gill Sans" panose="020B0604020202020204" charset="0"/>
              </a:rPr>
              <a:t>framework</a:t>
            </a:r>
            <a:r>
              <a:rPr lang="es-EC" sz="1800" dirty="0">
                <a:latin typeface="Gill Sans" panose="020B0604020202020204" charset="0"/>
              </a:rPr>
              <a:t> </a:t>
            </a:r>
            <a:r>
              <a:rPr lang="es-ES" sz="1800" dirty="0">
                <a:latin typeface="Gill Sans" panose="020B0604020202020204" charset="0"/>
              </a:rPr>
              <a:t> </a:t>
            </a:r>
            <a:r>
              <a:rPr lang="es-ES" sz="1800" dirty="0" err="1">
                <a:latin typeface="Gill Sans" panose="020B0604020202020204" charset="0"/>
              </a:rPr>
              <a:t>react</a:t>
            </a:r>
            <a:endParaRPr lang="es-EC" sz="1800" dirty="0">
              <a:latin typeface="Gill Sans" panose="020B0604020202020204" charset="0"/>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4" name="Imagen 3">
            <a:extLst>
              <a:ext uri="{FF2B5EF4-FFF2-40B4-BE49-F238E27FC236}">
                <a16:creationId xmlns:a16="http://schemas.microsoft.com/office/drawing/2014/main" id="{4D213330-3661-494B-A678-AF5E556BDC50}"/>
              </a:ext>
            </a:extLst>
          </p:cNvPr>
          <p:cNvPicPr>
            <a:picLocks noChangeAspect="1"/>
          </p:cNvPicPr>
          <p:nvPr/>
        </p:nvPicPr>
        <p:blipFill>
          <a:blip r:embed="rId3"/>
          <a:stretch>
            <a:fillRect/>
          </a:stretch>
        </p:blipFill>
        <p:spPr>
          <a:xfrm>
            <a:off x="3095206" y="2848873"/>
            <a:ext cx="3000794" cy="3772426"/>
          </a:xfrm>
          <a:prstGeom prst="rect">
            <a:avLst/>
          </a:prstGeom>
        </p:spPr>
      </p:pic>
    </p:spTree>
    <p:extLst>
      <p:ext uri="{BB962C8B-B14F-4D97-AF65-F5344CB8AC3E}">
        <p14:creationId xmlns:p14="http://schemas.microsoft.com/office/powerpoint/2010/main" val="2105223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Imagen 3">
            <a:extLst>
              <a:ext uri="{FF2B5EF4-FFF2-40B4-BE49-F238E27FC236}">
                <a16:creationId xmlns:a16="http://schemas.microsoft.com/office/drawing/2014/main" id="{0BA7C440-0538-45D9-931B-4EA9F2C2D145}"/>
              </a:ext>
            </a:extLst>
          </p:cNvPr>
          <p:cNvPicPr>
            <a:picLocks noChangeAspect="1"/>
          </p:cNvPicPr>
          <p:nvPr/>
        </p:nvPicPr>
        <p:blipFill>
          <a:blip r:embed="rId3"/>
          <a:stretch>
            <a:fillRect/>
          </a:stretch>
        </p:blipFill>
        <p:spPr>
          <a:xfrm>
            <a:off x="3000000" y="2600030"/>
            <a:ext cx="2998704" cy="39933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3" name="Imagen 2">
            <a:extLst>
              <a:ext uri="{FF2B5EF4-FFF2-40B4-BE49-F238E27FC236}">
                <a16:creationId xmlns:a16="http://schemas.microsoft.com/office/drawing/2014/main" id="{F8D83BB5-C04C-463A-B545-9D84AD23DECF}"/>
              </a:ext>
            </a:extLst>
          </p:cNvPr>
          <p:cNvPicPr>
            <a:picLocks noChangeAspect="1"/>
          </p:cNvPicPr>
          <p:nvPr/>
        </p:nvPicPr>
        <p:blipFill>
          <a:blip r:embed="rId3"/>
          <a:stretch>
            <a:fillRect/>
          </a:stretch>
        </p:blipFill>
        <p:spPr>
          <a:xfrm>
            <a:off x="392079" y="3001434"/>
            <a:ext cx="3774352" cy="2225295"/>
          </a:xfrm>
          <a:prstGeom prst="rect">
            <a:avLst/>
          </a:prstGeom>
        </p:spPr>
      </p:pic>
      <p:pic>
        <p:nvPicPr>
          <p:cNvPr id="6" name="Imagen 5">
            <a:extLst>
              <a:ext uri="{FF2B5EF4-FFF2-40B4-BE49-F238E27FC236}">
                <a16:creationId xmlns:a16="http://schemas.microsoft.com/office/drawing/2014/main" id="{C418943F-F308-4DF3-8C80-CFB99F9102BB}"/>
              </a:ext>
            </a:extLst>
          </p:cNvPr>
          <p:cNvPicPr>
            <a:picLocks noChangeAspect="1"/>
          </p:cNvPicPr>
          <p:nvPr/>
        </p:nvPicPr>
        <p:blipFill>
          <a:blip r:embed="rId4"/>
          <a:stretch>
            <a:fillRect/>
          </a:stretch>
        </p:blipFill>
        <p:spPr>
          <a:xfrm>
            <a:off x="4440503" y="2761245"/>
            <a:ext cx="4402792" cy="2705672"/>
          </a:xfrm>
          <a:prstGeom prst="rect">
            <a:avLst/>
          </a:prstGeom>
        </p:spPr>
      </p:pic>
    </p:spTree>
    <p:extLst>
      <p:ext uri="{BB962C8B-B14F-4D97-AF65-F5344CB8AC3E}">
        <p14:creationId xmlns:p14="http://schemas.microsoft.com/office/powerpoint/2010/main" val="1823293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DDC3B22-E01C-42C2-9DF3-CE68D721705C}"/>
              </a:ext>
            </a:extLst>
          </p:cNvPr>
          <p:cNvPicPr>
            <a:picLocks noChangeAspect="1"/>
          </p:cNvPicPr>
          <p:nvPr/>
        </p:nvPicPr>
        <p:blipFill>
          <a:blip r:embed="rId3"/>
          <a:stretch>
            <a:fillRect/>
          </a:stretch>
        </p:blipFill>
        <p:spPr>
          <a:xfrm>
            <a:off x="1032694" y="2016719"/>
            <a:ext cx="2229161" cy="4410691"/>
          </a:xfrm>
          <a:prstGeom prst="rect">
            <a:avLst/>
          </a:prstGeom>
        </p:spPr>
      </p:pic>
      <p:pic>
        <p:nvPicPr>
          <p:cNvPr id="6" name="Imagen 5">
            <a:extLst>
              <a:ext uri="{FF2B5EF4-FFF2-40B4-BE49-F238E27FC236}">
                <a16:creationId xmlns:a16="http://schemas.microsoft.com/office/drawing/2014/main" id="{2BB04344-B9D3-4A8C-80BA-745F15FAC5AC}"/>
              </a:ext>
            </a:extLst>
          </p:cNvPr>
          <p:cNvPicPr>
            <a:picLocks noChangeAspect="1"/>
          </p:cNvPicPr>
          <p:nvPr/>
        </p:nvPicPr>
        <p:blipFill>
          <a:blip r:embed="rId4"/>
          <a:stretch>
            <a:fillRect/>
          </a:stretch>
        </p:blipFill>
        <p:spPr>
          <a:xfrm>
            <a:off x="4729938" y="2062691"/>
            <a:ext cx="2229160" cy="462344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a los estudiantes desarrollar un servicio web básico en .NET. Esto les proporcionó una comprensión práctica de cómo exponer métodos de conversión de unidades a través de un servicio web accesible.</a:t>
            </a:r>
          </a:p>
          <a:p>
            <a:pPr indent="-325869">
              <a:lnSpc>
                <a:spcPct val="110000"/>
              </a:lnSpc>
              <a:spcBef>
                <a:spcPts val="960"/>
              </a:spcBef>
              <a:buClr>
                <a:schemeClr val="dk1"/>
              </a:buClr>
              <a:buSzPct val="91999"/>
            </a:pPr>
            <a:r>
              <a:rPr lang="es-EC" altLang="es-EC" dirty="0"/>
              <a:t>La correcta estructuración del proyecto en paquetes (prueba, servicio, </a:t>
            </a:r>
            <a:r>
              <a:rPr lang="es-EC" altLang="es-EC" dirty="0" err="1"/>
              <a:t>ws</a:t>
            </a:r>
            <a:r>
              <a:rPr lang="es-EC" altLang="es-EC" dirty="0"/>
              <a:t>) mejoró la organización y mantenibilidad del código. Este enfoque modular facilita futuras modificaciones y extensiones del sistema. </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5	Recomendaciones</a:t>
            </a:r>
            <a:endParaRPr dirty="0"/>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285750" lvl="0" indent="-285750" algn="just">
              <a:lnSpc>
                <a:spcPct val="150000"/>
              </a:lnSpc>
            </a:pPr>
            <a:r>
              <a:rPr lang="es-ES" dirty="0">
                <a:latin typeface="Calibri"/>
                <a:ea typeface="Calibri"/>
                <a:cs typeface="Calibri"/>
                <a:sym typeface="Calibri"/>
              </a:rPr>
              <a:t>Antes de implementar servicios web es recomendable revisar la documentación de como implementarlo utilizando RESTFUL.</a:t>
            </a:r>
            <a:endParaRPr lang="es-ES" dirty="0"/>
          </a:p>
          <a:p>
            <a:pPr marL="285750" lvl="0" indent="-285750" algn="just">
              <a:lnSpc>
                <a:spcPct val="150000"/>
              </a:lnSpc>
            </a:pPr>
            <a:r>
              <a:rPr lang="es-ES" dirty="0">
                <a:latin typeface="Calibri"/>
                <a:ea typeface="Calibri"/>
                <a:cs typeface="Calibri"/>
                <a:sym typeface="Calibri"/>
              </a:rPr>
              <a:t>Es recomendable antes de implementar el cliente, revisar que el servidor con los servicios web se encuentren funcionando correctamente.</a:t>
            </a:r>
            <a:endParaRPr lang="es-ES" dirty="0"/>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5	RECOMENDACIONES</a:t>
            </a: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chemeClr val="bg1"/>
                </a:solidFill>
                <a:latin typeface="Gill Sans"/>
                <a:ea typeface="Gill Sans"/>
                <a:cs typeface="Gill Sans"/>
                <a:sym typeface="Gill Sans"/>
              </a:rPr>
              <a:t>6	BIBLIOGRAFÍA</a:t>
            </a:r>
            <a:endParaRPr sz="1100" b="0" i="0" u="none" strike="noStrike" cap="none" dirty="0">
              <a:solidFill>
                <a:schemeClr val="bg1"/>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8">
          <a:extLst>
            <a:ext uri="{FF2B5EF4-FFF2-40B4-BE49-F238E27FC236}">
              <a16:creationId xmlns:a16="http://schemas.microsoft.com/office/drawing/2014/main" id="{F178CF4D-5A3C-3EFC-595B-8BD4FC541E9E}"/>
            </a:ext>
          </a:extLst>
        </p:cNvPr>
        <p:cNvGrpSpPr/>
        <p:nvPr/>
      </p:nvGrpSpPr>
      <p:grpSpPr>
        <a:xfrm>
          <a:off x="0" y="0"/>
          <a:ext cx="0" cy="0"/>
          <a:chOff x="0" y="0"/>
          <a:chExt cx="0" cy="0"/>
        </a:xfrm>
      </p:grpSpPr>
      <p:sp>
        <p:nvSpPr>
          <p:cNvPr id="569" name="Google Shape;569;p37">
            <a:extLst>
              <a:ext uri="{FF2B5EF4-FFF2-40B4-BE49-F238E27FC236}">
                <a16:creationId xmlns:a16="http://schemas.microsoft.com/office/drawing/2014/main" id="{06B663DC-A00E-F160-29E5-2D858448044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a:extLst>
              <a:ext uri="{FF2B5EF4-FFF2-40B4-BE49-F238E27FC236}">
                <a16:creationId xmlns:a16="http://schemas.microsoft.com/office/drawing/2014/main" id="{A02ACF43-BD99-A89F-8246-B85834E3610D}"/>
              </a:ext>
            </a:extLst>
          </p:cNvPr>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Deitel, P., &amp; Deitel, H. (2017). Java How </a:t>
            </a:r>
            <a:r>
              <a:rPr lang="es-EC" altLang="es-EC" dirty="0" err="1">
                <a:latin typeface="Times New Roman" panose="02020603050405020304" pitchFamily="18" charset="0"/>
                <a:ea typeface="Calibri" panose="020F0502020204030204" pitchFamily="34" charset="0"/>
                <a:cs typeface="Arial" panose="020B0604020202020204" pitchFamily="34" charset="0"/>
              </a:rPr>
              <a:t>to</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Program</a:t>
            </a:r>
            <a:r>
              <a:rPr lang="es-EC" altLang="es-EC" dirty="0">
                <a:latin typeface="Times New Roman" panose="02020603050405020304" pitchFamily="18" charset="0"/>
                <a:ea typeface="Calibri" panose="020F0502020204030204" pitchFamily="34" charset="0"/>
                <a:cs typeface="Arial" panose="020B0604020202020204" pitchFamily="34" charset="0"/>
              </a:rPr>
              <a:t> (Late </a:t>
            </a:r>
            <a:r>
              <a:rPr lang="es-EC" altLang="es-EC" dirty="0" err="1">
                <a:latin typeface="Times New Roman" panose="02020603050405020304" pitchFamily="18" charset="0"/>
                <a:ea typeface="Calibri" panose="020F0502020204030204" pitchFamily="34" charset="0"/>
                <a:cs typeface="Arial" panose="020B0604020202020204" pitchFamily="34" charset="0"/>
              </a:rPr>
              <a:t>Objects</a:t>
            </a:r>
            <a:r>
              <a:rPr lang="es-EC" altLang="es-EC" dirty="0">
                <a:latin typeface="Times New Roman" panose="02020603050405020304" pitchFamily="18" charset="0"/>
                <a:ea typeface="Calibri" panose="020F0502020204030204" pitchFamily="34" charset="0"/>
                <a:cs typeface="Arial" panose="020B0604020202020204" pitchFamily="34" charset="0"/>
              </a:rPr>
              <a:t>) (11th ed.). Pearson.</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Oracle. (</a:t>
            </a:r>
            <a:r>
              <a:rPr lang="es-EC" altLang="es-EC" dirty="0" err="1">
                <a:latin typeface="Times New Roman" panose="02020603050405020304" pitchFamily="18" charset="0"/>
                <a:ea typeface="Calibri" panose="020F0502020204030204" pitchFamily="34" charset="0"/>
                <a:cs typeface="Arial" panose="020B0604020202020204" pitchFamily="34" charset="0"/>
              </a:rPr>
              <a:t>n.d</a:t>
            </a:r>
            <a:r>
              <a:rPr lang="es-EC" altLang="es-EC" dirty="0">
                <a:latin typeface="Times New Roman" panose="02020603050405020304" pitchFamily="18" charset="0"/>
                <a:ea typeface="Calibri" panose="020F0502020204030204" pitchFamily="34" charset="0"/>
                <a:cs typeface="Arial" panose="020B0604020202020204" pitchFamily="34" charset="0"/>
              </a:rPr>
              <a:t>.). Java </a:t>
            </a:r>
            <a:r>
              <a:rPr lang="es-EC" altLang="es-EC" dirty="0" err="1">
                <a:latin typeface="Times New Roman" panose="02020603050405020304" pitchFamily="18" charset="0"/>
                <a:ea typeface="Calibri" panose="020F0502020204030204" pitchFamily="34" charset="0"/>
                <a:cs typeface="Arial" panose="020B0604020202020204" pitchFamily="34" charset="0"/>
              </a:rPr>
              <a:t>Platform</a:t>
            </a:r>
            <a:r>
              <a:rPr lang="es-EC" altLang="es-EC" dirty="0">
                <a:latin typeface="Times New Roman" panose="02020603050405020304" pitchFamily="18" charset="0"/>
                <a:ea typeface="Calibri" panose="020F0502020204030204" pitchFamily="34" charset="0"/>
                <a:cs typeface="Arial" panose="020B0604020202020204" pitchFamily="34" charset="0"/>
              </a:rPr>
              <a:t>, Enterprise </a:t>
            </a:r>
            <a:r>
              <a:rPr lang="es-EC" altLang="es-EC" dirty="0" err="1">
                <a:latin typeface="Times New Roman" panose="02020603050405020304" pitchFamily="18" charset="0"/>
                <a:ea typeface="Calibri" panose="020F0502020204030204" pitchFamily="34" charset="0"/>
                <a:cs typeface="Arial" panose="020B0604020202020204" pitchFamily="34" charset="0"/>
              </a:rPr>
              <a:t>Edition</a:t>
            </a:r>
            <a:r>
              <a:rPr lang="es-EC" altLang="es-EC" dirty="0">
                <a:latin typeface="Times New Roman" panose="02020603050405020304" pitchFamily="18" charset="0"/>
                <a:ea typeface="Calibri" panose="020F0502020204030204" pitchFamily="34" charset="0"/>
                <a:cs typeface="Arial" panose="020B0604020202020204" pitchFamily="34" charset="0"/>
              </a:rPr>
              <a:t> (Java EE). Recuperado de </a:t>
            </a:r>
            <a:r>
              <a:rPr lang="es-EC" altLang="es-EC" dirty="0">
                <a:latin typeface="Times New Roman" panose="02020603050405020304" pitchFamily="18"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https://www.oracle.com/java/technologies/java-ee-glance.html</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Maxim, B. R. (2019). Software </a:t>
            </a:r>
            <a:r>
              <a:rPr lang="es-EC" altLang="es-EC" dirty="0" err="1">
                <a:latin typeface="Times New Roman" panose="02020603050405020304" pitchFamily="18" charset="0"/>
                <a:ea typeface="Calibri" panose="020F0502020204030204" pitchFamily="34" charset="0"/>
                <a:cs typeface="Arial" panose="020B0604020202020204" pitchFamily="34" charset="0"/>
              </a:rPr>
              <a:t>Engineering</a:t>
            </a:r>
            <a:r>
              <a:rPr lang="es-EC" altLang="es-EC" dirty="0">
                <a:latin typeface="Times New Roman" panose="02020603050405020304" pitchFamily="18" charset="0"/>
                <a:ea typeface="Calibri" panose="020F0502020204030204" pitchFamily="34" charset="0"/>
                <a:cs typeface="Arial" panose="020B0604020202020204" pitchFamily="34" charset="0"/>
              </a:rPr>
              <a:t>: A </a:t>
            </a:r>
            <a:r>
              <a:rPr lang="es-EC" altLang="es-EC" dirty="0" err="1">
                <a:latin typeface="Times New Roman" panose="02020603050405020304" pitchFamily="18" charset="0"/>
                <a:ea typeface="Calibri" panose="020F0502020204030204" pitchFamily="34" charset="0"/>
                <a:cs typeface="Arial" panose="020B0604020202020204" pitchFamily="34" charset="0"/>
              </a:rPr>
              <a:t>Practitioner's</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Approach</a:t>
            </a:r>
            <a:r>
              <a:rPr lang="es-EC" altLang="es-EC" dirty="0">
                <a:latin typeface="Times New Roman" panose="02020603050405020304" pitchFamily="18" charset="0"/>
                <a:ea typeface="Calibri" panose="020F0502020204030204" pitchFamily="34" charset="0"/>
                <a:cs typeface="Arial" panose="020B0604020202020204" pitchFamily="34" charset="0"/>
              </a:rPr>
              <a:t> (9th ed.). McGraw-Hill </a:t>
            </a:r>
            <a:r>
              <a:rPr lang="es-EC" altLang="es-EC" dirty="0" err="1">
                <a:latin typeface="Times New Roman" panose="02020603050405020304" pitchFamily="18" charset="0"/>
                <a:ea typeface="Calibri" panose="020F0502020204030204" pitchFamily="34" charset="0"/>
                <a:cs typeface="Arial" panose="020B0604020202020204" pitchFamily="34" charset="0"/>
              </a:rPr>
              <a:t>Education</a:t>
            </a:r>
            <a:r>
              <a:rPr lang="es-EC" altLang="es-EC" dirty="0">
                <a:latin typeface="Times New Roman" panose="02020603050405020304" pitchFamily="18" charset="0"/>
                <a:ea typeface="Calibri" panose="020F0502020204030204" pitchFamily="34" charset="0"/>
                <a:cs typeface="Arial" panose="020B0604020202020204" pitchFamily="34" charset="0"/>
              </a:rPr>
              <a:t>.</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Eckel, B. (2006). </a:t>
            </a:r>
            <a:r>
              <a:rPr lang="es-EC" altLang="es-EC" dirty="0" err="1">
                <a:latin typeface="Times New Roman" panose="02020603050405020304" pitchFamily="18" charset="0"/>
                <a:ea typeface="Calibri" panose="020F0502020204030204" pitchFamily="34" charset="0"/>
                <a:cs typeface="Arial" panose="020B0604020202020204" pitchFamily="34" charset="0"/>
              </a:rPr>
              <a:t>Thinking</a:t>
            </a:r>
            <a:r>
              <a:rPr lang="es-EC" altLang="es-EC" dirty="0">
                <a:latin typeface="Times New Roman" panose="02020603050405020304" pitchFamily="18" charset="0"/>
                <a:ea typeface="Calibri" panose="020F0502020204030204" pitchFamily="34" charset="0"/>
                <a:cs typeface="Arial" panose="020B0604020202020204" pitchFamily="34" charset="0"/>
              </a:rPr>
              <a:t> in Java (4th ed.). Prentice Hall.</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Bloch, J. (2018). </a:t>
            </a:r>
            <a:r>
              <a:rPr lang="es-EC" altLang="es-EC" dirty="0" err="1">
                <a:latin typeface="Times New Roman" panose="02020603050405020304" pitchFamily="18" charset="0"/>
                <a:ea typeface="Calibri" panose="020F0502020204030204" pitchFamily="34" charset="0"/>
                <a:cs typeface="Arial" panose="020B0604020202020204" pitchFamily="34" charset="0"/>
              </a:rPr>
              <a:t>Effective</a:t>
            </a:r>
            <a:r>
              <a:rPr lang="es-EC" altLang="es-EC" dirty="0">
                <a:latin typeface="Times New Roman" panose="02020603050405020304" pitchFamily="18" charset="0"/>
                <a:ea typeface="Calibri" panose="020F0502020204030204" pitchFamily="34" charset="0"/>
                <a:cs typeface="Arial" panose="020B0604020202020204" pitchFamily="34" charset="0"/>
              </a:rPr>
              <a:t> Java (3rd ed.). Addison-Wesley.</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Sierra, K., &amp; Bates, B. (2015). Head First Java (2nd ed.). O'Reilly Media. </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a:extLst>
              <a:ext uri="{FF2B5EF4-FFF2-40B4-BE49-F238E27FC236}">
                <a16:creationId xmlns:a16="http://schemas.microsoft.com/office/drawing/2014/main" id="{9DF8B1C3-B993-166F-6EBC-9089726F86BC}"/>
              </a:ext>
            </a:extLst>
          </p:cNvPr>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a:extLst>
              <a:ext uri="{FF2B5EF4-FFF2-40B4-BE49-F238E27FC236}">
                <a16:creationId xmlns:a16="http://schemas.microsoft.com/office/drawing/2014/main" id="{6CB4F977-7235-DC09-31DF-F6906E94D384}"/>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a:extLst>
              <a:ext uri="{FF2B5EF4-FFF2-40B4-BE49-F238E27FC236}">
                <a16:creationId xmlns:a16="http://schemas.microsoft.com/office/drawing/2014/main" id="{0FA50027-49CF-F344-D604-4455777EB5C1}"/>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a:extLst>
              <a:ext uri="{FF2B5EF4-FFF2-40B4-BE49-F238E27FC236}">
                <a16:creationId xmlns:a16="http://schemas.microsoft.com/office/drawing/2014/main" id="{B071C1B9-901C-4143-146E-C0A0027B4A94}"/>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extLst>
      <p:ext uri="{BB962C8B-B14F-4D97-AF65-F5344CB8AC3E}">
        <p14:creationId xmlns:p14="http://schemas.microsoft.com/office/powerpoint/2010/main" val="1618937375"/>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TotalTime>
  <Words>3908</Words>
  <Application>Microsoft Office PowerPoint</Application>
  <PresentationFormat>Panorámica</PresentationFormat>
  <Paragraphs>829</Paragraphs>
  <Slides>23</Slides>
  <Notes>22</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23</vt:i4>
      </vt:variant>
    </vt:vector>
  </HeadingPairs>
  <TitlesOfParts>
    <vt:vector size="33" baseType="lpstr">
      <vt:lpstr>Noto Sans Symbols</vt:lpstr>
      <vt:lpstr>Times New Roman</vt:lpstr>
      <vt:lpstr>Symbol</vt:lpstr>
      <vt:lpstr>Calibri</vt:lpstr>
      <vt:lpstr>Arial</vt:lpstr>
      <vt:lpstr>Wingdings 2</vt:lpstr>
      <vt:lpstr>Gill Sans</vt:lpstr>
      <vt:lpstr>Gill Sans MT</vt:lpstr>
      <vt:lpstr>Dividendo</vt:lpstr>
      <vt:lpstr>1_Dividendo</vt:lpstr>
      <vt:lpstr>CONVERSIÓN DE UNIDADES RESTFUL EN .NET SIN BASE DE DATOS  </vt:lpstr>
      <vt:lpstr>Presentación de PowerPoint</vt:lpstr>
      <vt:lpstr>INTRODUCCIÓN</vt:lpstr>
      <vt:lpstr>OBJETIVO</vt:lpstr>
      <vt:lpstr>2 DESARROLLO</vt:lpstr>
      <vt:lpstr>2.1.1. CREACIÓN DEL PROYECTO SERVIDOR </vt:lpstr>
      <vt:lpstr>Presentación de PowerPoint</vt:lpstr>
      <vt:lpstr>2.2 CREACIÓN DEL PROYECTO ESCRITORIO CLIENTE</vt:lpstr>
      <vt:lpstr>Presentación de PowerPoint</vt:lpstr>
      <vt:lpstr>Presentación de PowerPoint</vt:lpstr>
      <vt:lpstr>Presentación de PowerPoint</vt:lpstr>
      <vt:lpstr>Presentación de PowerPoint</vt:lpstr>
      <vt:lpstr> 2.3 CREACIÓN DEL CLIENTE EN APLICACIÓN  DE CONSOLA  </vt:lpstr>
      <vt:lpstr> </vt:lpstr>
      <vt:lpstr> </vt:lpstr>
      <vt:lpstr> 2.3 CREACIÓN DEL CLIENTE EN APLICACIÓN MÓVIL  </vt:lpstr>
      <vt:lpstr> 2.4. CREACIÓN DEL CLIENTE EN APLICACIÓN DE WEB </vt:lpstr>
      <vt:lpstr> 3 EJECUCIÓN  </vt:lpstr>
      <vt:lpstr>Ejecución del cliente escritorio: </vt:lpstr>
      <vt:lpstr>Presentación de PowerPoint</vt:lpstr>
      <vt:lpstr>4 CONCLUSIONES</vt:lpstr>
      <vt:lpstr>5 Recomendaciones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Raul Silva - ETIMET</cp:lastModifiedBy>
  <cp:revision>14</cp:revision>
  <dcterms:created xsi:type="dcterms:W3CDTF">2020-07-10T23:33:49Z</dcterms:created>
  <dcterms:modified xsi:type="dcterms:W3CDTF">2026-05-13T07:21:40Z</dcterms:modified>
</cp:coreProperties>
</file>